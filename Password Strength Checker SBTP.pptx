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  <p:sldMasterId id="2147483675" r:id="rId2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4"/>
      <p:bold r:id="rId15"/>
      <p:italic r:id="rId16"/>
      <p:boldItalic r:id="rId17"/>
    </p:embeddedFont>
    <p:embeddedFont>
      <p:font typeface="Tahoma" panose="020B0604030504040204" pitchFamily="34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F61826D-432E-424E-990E-A19D4A1A831E}">
  <a:tblStyle styleId="{1F61826D-432E-424E-990E-A19D4A1A831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726" y="9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ed0462cdbc_1_20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1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g3ed0462cdbc_1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ed0462cdbc_1_2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1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g3ed0462cdbc_1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ed0462cdbc_1_2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1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g3ed0462cdbc_1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ed0462cdbc_1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1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g3ed0462cdbc_1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ed0462cdbc_1_2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1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g3ed0462cdbc_1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d0462cdbc_1_2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1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d0462cdbc_1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d0462cdbc_1_2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1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g3ed0462cdbc_1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ed0462cdbc_1_2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1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g3ed0462cdbc_1_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d0462cdbc_1_2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1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g3ed0462cdbc_1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122719" y="114965"/>
            <a:ext cx="56112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 sz="22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880861" y="1279047"/>
            <a:ext cx="3799500" cy="11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700" b="0" i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ftr" idx="11"/>
          </p:nvPr>
        </p:nvSpPr>
        <p:spPr>
          <a:xfrm>
            <a:off x="3108960" y="4783454"/>
            <a:ext cx="2925900" cy="2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dt" idx="10"/>
          </p:nvPr>
        </p:nvSpPr>
        <p:spPr>
          <a:xfrm>
            <a:off x="457200" y="4783454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595863" y="4953905"/>
            <a:ext cx="4035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88900" lvl="0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88900" lvl="1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88900" lvl="2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88900" lvl="3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88900" lvl="4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88900" lvl="5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88900" lvl="6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88900" lvl="7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88900" lvl="8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8890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r>
              <a:rPr lang="en"/>
              <a:t> / 14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300"/>
          </a:xfrm>
          <a:prstGeom prst="rect">
            <a:avLst/>
          </a:prstGeom>
        </p:spPr>
        <p:txBody>
          <a:bodyPr spcFirstLastPara="1" wrap="square" lIns="91400" tIns="91400" rIns="91400" bIns="914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975" tIns="144975" rIns="144975" bIns="1449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>
            <a:spLocks noGrp="1"/>
          </p:cNvSpPr>
          <p:nvPr>
            <p:ph type="title"/>
          </p:nvPr>
        </p:nvSpPr>
        <p:spPr>
          <a:xfrm>
            <a:off x="311700" y="1111201"/>
            <a:ext cx="8520600" cy="572400"/>
          </a:xfrm>
          <a:prstGeom prst="rect">
            <a:avLst/>
          </a:prstGeom>
        </p:spPr>
        <p:txBody>
          <a:bodyPr spcFirstLastPara="1" wrap="square" lIns="91400" tIns="91400" rIns="91400" bIns="914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975" tIns="144975" rIns="144975" bIns="144975" anchor="ctr" anchorCtr="0">
            <a:noAutofit/>
          </a:bodyPr>
          <a:lstStyle>
            <a:lvl1pPr marL="457200" lvl="0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1pPr>
            <a:lvl2pPr marL="914400" lvl="1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2pPr>
            <a:lvl3pPr marL="1371600" lvl="2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4pPr>
            <a:lvl5pPr marL="2286000" lvl="4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5pPr>
            <a:lvl6pPr marL="2743200" lvl="5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6pPr>
            <a:lvl7pPr marL="3200400" lvl="6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7pPr>
            <a:lvl8pPr marL="3657600" lvl="7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8pPr>
            <a:lvl9pPr marL="4114800" lvl="8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311700" y="1111201"/>
            <a:ext cx="8520600" cy="572400"/>
          </a:xfrm>
          <a:prstGeom prst="rect">
            <a:avLst/>
          </a:prstGeom>
        </p:spPr>
        <p:txBody>
          <a:bodyPr spcFirstLastPara="1" wrap="square" lIns="91400" tIns="91400" rIns="91400" bIns="914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975" tIns="144975" rIns="144975" bIns="14497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975" tIns="144975" rIns="144975" bIns="14497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9"/>
          <p:cNvSpPr txBox="1">
            <a:spLocks noGrp="1"/>
          </p:cNvSpPr>
          <p:nvPr>
            <p:ph type="title"/>
          </p:nvPr>
        </p:nvSpPr>
        <p:spPr>
          <a:xfrm>
            <a:off x="311700" y="1111201"/>
            <a:ext cx="8520600" cy="572400"/>
          </a:xfrm>
          <a:prstGeom prst="rect">
            <a:avLst/>
          </a:prstGeom>
        </p:spPr>
        <p:txBody>
          <a:bodyPr spcFirstLastPara="1" wrap="square" lIns="91400" tIns="91400" rIns="91400" bIns="914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00" tIns="91400" rIns="91400" bIns="914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2" name="Google Shape;82;p2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975" tIns="144975" rIns="144975" bIns="144975" anchor="ctr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marL="914400" lvl="1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83" name="Google Shape;83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1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5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6" name="Google Shape;86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2"/>
          <p:cNvSpPr/>
          <p:nvPr/>
        </p:nvSpPr>
        <p:spPr>
          <a:xfrm>
            <a:off x="4572000" y="-125"/>
            <a:ext cx="45723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4900" cy="1482300"/>
          </a:xfrm>
          <a:prstGeom prst="rect">
            <a:avLst/>
          </a:prstGeom>
        </p:spPr>
        <p:txBody>
          <a:bodyPr spcFirstLastPara="1" wrap="square" lIns="91400" tIns="91400" rIns="91400" bIns="914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1pPr>
            <a:lvl2pPr lvl="1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2pPr>
            <a:lvl3pPr lvl="2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3pPr>
            <a:lvl4pPr lvl="3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4pPr>
            <a:lvl5pPr lvl="4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5pPr>
            <a:lvl6pPr lvl="5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6pPr>
            <a:lvl7pPr lvl="6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7pPr>
            <a:lvl8pPr lvl="7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8pPr>
            <a:lvl9pPr lvl="8" algn="ctr"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9pPr>
          </a:lstStyle>
          <a:p>
            <a:endParaRPr/>
          </a:p>
        </p:txBody>
      </p:sp>
      <p:sp>
        <p:nvSpPr>
          <p:cNvPr id="90" name="Google Shape;90;p2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49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975" tIns="144975" rIns="144975" bIns="1449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1" name="Google Shape;91;p2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975" tIns="144975" rIns="144975" bIns="144975" anchor="ctr" anchorCtr="0">
            <a:noAutofit/>
          </a:bodyPr>
          <a:lstStyle>
            <a:lvl1pPr marL="457200" lvl="0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1pPr>
            <a:lvl2pPr marL="914400" lvl="1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2pPr>
            <a:lvl3pPr marL="1371600" lvl="2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4pPr>
            <a:lvl5pPr marL="2286000" lvl="4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5pPr>
            <a:lvl6pPr marL="2743200" lvl="5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6pPr>
            <a:lvl7pPr marL="3200400" lvl="6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7pPr>
            <a:lvl8pPr marL="3657600" lvl="7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8pPr>
            <a:lvl9pPr marL="4114800" lvl="8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9pPr>
          </a:lstStyle>
          <a:p>
            <a:endParaRPr/>
          </a:p>
        </p:txBody>
      </p:sp>
      <p:sp>
        <p:nvSpPr>
          <p:cNvPr id="92" name="Google Shape;92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91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975" tIns="144975" rIns="144975" bIns="14497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</a:lstStyle>
          <a:p>
            <a:endParaRPr/>
          </a:p>
        </p:txBody>
      </p:sp>
      <p:sp>
        <p:nvSpPr>
          <p:cNvPr id="95" name="Google Shape;95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00" tIns="91400" rIns="91400" bIns="914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9pPr>
          </a:lstStyle>
          <a:p>
            <a:r>
              <a:t>xx%</a:t>
            </a:r>
          </a:p>
        </p:txBody>
      </p:sp>
      <p:sp>
        <p:nvSpPr>
          <p:cNvPr id="98" name="Google Shape;98;p2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975" tIns="144975" rIns="144975" bIns="144975" anchor="ctr" anchorCtr="0">
            <a:noAutofit/>
          </a:bodyPr>
          <a:lstStyle>
            <a:lvl1pPr marL="457200" lvl="0" indent="-368300" algn="ctr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1pPr>
            <a:lvl2pPr marL="914400" lvl="1" indent="-368300" algn="ctr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2pPr>
            <a:lvl3pPr marL="1371600" lvl="2" indent="-368300" algn="ctr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3pPr>
            <a:lvl4pPr marL="1828800" lvl="3" indent="-368300" algn="ctr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4pPr>
            <a:lvl5pPr marL="2286000" lvl="4" indent="-368300" algn="ctr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5pPr>
            <a:lvl6pPr marL="2743200" lvl="5" indent="-368300" algn="ctr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6pPr>
            <a:lvl7pPr marL="3200400" lvl="6" indent="-368300" algn="ctr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7pPr>
            <a:lvl8pPr marL="3657600" lvl="7" indent="-368300" algn="ctr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8pPr>
            <a:lvl9pPr marL="4114800" lvl="8" indent="-368300" algn="ctr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9pPr>
          </a:lstStyle>
          <a:p>
            <a:endParaRPr/>
          </a:p>
        </p:txBody>
      </p:sp>
      <p:sp>
        <p:nvSpPr>
          <p:cNvPr id="99" name="Google Shape;99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00" tIns="91400" rIns="91400" bIns="914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6"/>
          <p:cNvSpPr txBox="1">
            <a:spLocks noGrp="1"/>
          </p:cNvSpPr>
          <p:nvPr>
            <p:ph type="title"/>
          </p:nvPr>
        </p:nvSpPr>
        <p:spPr>
          <a:xfrm>
            <a:off x="122719" y="114965"/>
            <a:ext cx="56112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900"/>
              <a:buNone/>
              <a:defRPr sz="22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6"/>
          <p:cNvSpPr txBox="1">
            <a:spLocks noGrp="1"/>
          </p:cNvSpPr>
          <p:nvPr>
            <p:ph type="body" idx="1"/>
          </p:nvPr>
        </p:nvSpPr>
        <p:spPr>
          <a:xfrm>
            <a:off x="4880861" y="1279047"/>
            <a:ext cx="3799500" cy="11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2200"/>
              <a:buNone/>
              <a:defRPr sz="1700" b="0" i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>
            <a:endParaRPr/>
          </a:p>
        </p:txBody>
      </p:sp>
      <p:sp>
        <p:nvSpPr>
          <p:cNvPr id="105" name="Google Shape;105;p26"/>
          <p:cNvSpPr txBox="1">
            <a:spLocks noGrp="1"/>
          </p:cNvSpPr>
          <p:nvPr>
            <p:ph type="ftr" idx="11"/>
          </p:nvPr>
        </p:nvSpPr>
        <p:spPr>
          <a:xfrm>
            <a:off x="3108960" y="4783454"/>
            <a:ext cx="2925900" cy="2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>
            <a:endParaRPr/>
          </a:p>
        </p:txBody>
      </p:sp>
      <p:sp>
        <p:nvSpPr>
          <p:cNvPr id="106" name="Google Shape;106;p26"/>
          <p:cNvSpPr txBox="1">
            <a:spLocks noGrp="1"/>
          </p:cNvSpPr>
          <p:nvPr>
            <p:ph type="dt" idx="10"/>
          </p:nvPr>
        </p:nvSpPr>
        <p:spPr>
          <a:xfrm>
            <a:off x="457200" y="4783454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>
            <a:endParaRPr/>
          </a:p>
        </p:txBody>
      </p:sp>
      <p:sp>
        <p:nvSpPr>
          <p:cNvPr id="107" name="Google Shape;107;p26"/>
          <p:cNvSpPr txBox="1">
            <a:spLocks noGrp="1"/>
          </p:cNvSpPr>
          <p:nvPr>
            <p:ph type="sldNum" idx="12"/>
          </p:nvPr>
        </p:nvSpPr>
        <p:spPr>
          <a:xfrm>
            <a:off x="8595863" y="4953905"/>
            <a:ext cx="4035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88900" lvl="0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88900" lvl="1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88900" lvl="2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88900" lvl="3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88900" lvl="4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88900" lvl="5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88900" lvl="6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88900" lvl="7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88900" lvl="8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8890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r>
              <a:rPr lang="en"/>
              <a:t> / 14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7"/>
          <p:cNvSpPr txBox="1">
            <a:spLocks noGrp="1"/>
          </p:cNvSpPr>
          <p:nvPr>
            <p:ph type="ftr" idx="11"/>
          </p:nvPr>
        </p:nvSpPr>
        <p:spPr>
          <a:xfrm>
            <a:off x="3108960" y="4783454"/>
            <a:ext cx="2925900" cy="2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>
            <a:endParaRPr/>
          </a:p>
        </p:txBody>
      </p:sp>
      <p:sp>
        <p:nvSpPr>
          <p:cNvPr id="110" name="Google Shape;110;p27"/>
          <p:cNvSpPr txBox="1">
            <a:spLocks noGrp="1"/>
          </p:cNvSpPr>
          <p:nvPr>
            <p:ph type="dt" idx="10"/>
          </p:nvPr>
        </p:nvSpPr>
        <p:spPr>
          <a:xfrm>
            <a:off x="457200" y="4783454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>
            <a:endParaRPr/>
          </a:p>
        </p:txBody>
      </p:sp>
      <p:sp>
        <p:nvSpPr>
          <p:cNvPr id="111" name="Google Shape;111;p27"/>
          <p:cNvSpPr txBox="1">
            <a:spLocks noGrp="1"/>
          </p:cNvSpPr>
          <p:nvPr>
            <p:ph type="sldNum" idx="12"/>
          </p:nvPr>
        </p:nvSpPr>
        <p:spPr>
          <a:xfrm>
            <a:off x="8595863" y="4953905"/>
            <a:ext cx="4035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88900" lvl="0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88900" lvl="1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88900" lvl="2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88900" lvl="3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88900" lvl="4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88900" lvl="5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88900" lvl="6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88900" lvl="7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88900" lvl="8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8890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r>
              <a:rPr lang="en"/>
              <a:t> / 14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8"/>
          <p:cNvSpPr txBox="1">
            <a:spLocks noGrp="1"/>
          </p:cNvSpPr>
          <p:nvPr>
            <p:ph type="title"/>
          </p:nvPr>
        </p:nvSpPr>
        <p:spPr>
          <a:xfrm>
            <a:off x="122719" y="114965"/>
            <a:ext cx="56112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900"/>
              <a:buNone/>
              <a:defRPr sz="22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8"/>
          <p:cNvSpPr txBox="1">
            <a:spLocks noGrp="1"/>
          </p:cNvSpPr>
          <p:nvPr>
            <p:ph type="ftr" idx="11"/>
          </p:nvPr>
        </p:nvSpPr>
        <p:spPr>
          <a:xfrm>
            <a:off x="3108960" y="4783454"/>
            <a:ext cx="2925900" cy="2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>
            <a:endParaRPr/>
          </a:p>
        </p:txBody>
      </p:sp>
      <p:sp>
        <p:nvSpPr>
          <p:cNvPr id="115" name="Google Shape;115;p28"/>
          <p:cNvSpPr txBox="1">
            <a:spLocks noGrp="1"/>
          </p:cNvSpPr>
          <p:nvPr>
            <p:ph type="dt" idx="10"/>
          </p:nvPr>
        </p:nvSpPr>
        <p:spPr>
          <a:xfrm>
            <a:off x="457200" y="4783454"/>
            <a:ext cx="2103000" cy="2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>
            <a:endParaRPr/>
          </a:p>
        </p:txBody>
      </p:sp>
      <p:sp>
        <p:nvSpPr>
          <p:cNvPr id="116" name="Google Shape;116;p28"/>
          <p:cNvSpPr txBox="1">
            <a:spLocks noGrp="1"/>
          </p:cNvSpPr>
          <p:nvPr>
            <p:ph type="sldNum" idx="12"/>
          </p:nvPr>
        </p:nvSpPr>
        <p:spPr>
          <a:xfrm>
            <a:off x="8595863" y="4953905"/>
            <a:ext cx="4035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88900" lvl="0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88900" lvl="1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88900" lvl="2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88900" lvl="3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88900" lvl="4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88900" lvl="5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88900" lvl="6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88900" lvl="7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88900" lvl="8" indent="0">
              <a:lnSpc>
                <a:spcPct val="112500"/>
              </a:lnSpc>
              <a:spcBef>
                <a:spcPts val="0"/>
              </a:spcBef>
              <a:buNone/>
              <a:defRPr sz="10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8890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r>
              <a:rPr lang="en"/>
              <a:t> / 14</a:t>
            </a:r>
            <a:endParaRPr/>
          </a:p>
        </p:txBody>
      </p:sp>
      <p:pic>
        <p:nvPicPr>
          <p:cNvPr id="117" name="Google Shape;117;p28" title="Picture1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1692" y="114962"/>
            <a:ext cx="1762106" cy="6665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16850" y="85874"/>
            <a:ext cx="1781604" cy="724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311700" y="1111201"/>
            <a:ext cx="8520600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9" name="Google Shape;59;p14" title="Picture1.png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241692" y="114962"/>
            <a:ext cx="1762106" cy="66654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4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7216850" y="85874"/>
            <a:ext cx="1781604" cy="72472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9"/>
          <p:cNvSpPr txBox="1">
            <a:spLocks noGrp="1"/>
          </p:cNvSpPr>
          <p:nvPr>
            <p:ph type="ctrTitle"/>
          </p:nvPr>
        </p:nvSpPr>
        <p:spPr>
          <a:xfrm>
            <a:off x="311708" y="600700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Title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GTU SBTP -2026 (Subject Code: DI05000011)</a:t>
            </a:r>
            <a:endParaRPr sz="2800"/>
          </a:p>
        </p:txBody>
      </p:sp>
      <p:sp>
        <p:nvSpPr>
          <p:cNvPr id="124" name="Google Shape;124;p29"/>
          <p:cNvSpPr txBox="1">
            <a:spLocks noGrp="1"/>
          </p:cNvSpPr>
          <p:nvPr>
            <p:ph type="subTitle" idx="1"/>
          </p:nvPr>
        </p:nvSpPr>
        <p:spPr>
          <a:xfrm>
            <a:off x="770562" y="2571750"/>
            <a:ext cx="8797406" cy="11604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lnSpc>
                <a:spcPct val="115000"/>
              </a:lnSpc>
              <a:buSzPts val="275"/>
            </a:pPr>
            <a:r>
              <a:rPr lang="en-US" sz="1400" b="1" dirty="0">
                <a:solidFill>
                  <a:srgbClr val="351C75"/>
                </a:solidFill>
              </a:rPr>
              <a:t>Student Name : Chaudhary Hard </a:t>
            </a:r>
            <a:r>
              <a:rPr lang="en-US" sz="1400" b="1" dirty="0" err="1">
                <a:solidFill>
                  <a:srgbClr val="351C75"/>
                </a:solidFill>
              </a:rPr>
              <a:t>Dinesbhai</a:t>
            </a:r>
            <a:r>
              <a:rPr lang="en-US" sz="1400" b="1" dirty="0">
                <a:solidFill>
                  <a:srgbClr val="351C75"/>
                </a:solidFill>
              </a:rPr>
              <a:t> </a:t>
            </a:r>
          </a:p>
          <a:p>
            <a:pPr marL="0" lvl="0" indent="0" algn="l">
              <a:lnSpc>
                <a:spcPct val="115000"/>
              </a:lnSpc>
              <a:buSzPts val="275"/>
            </a:pPr>
            <a:r>
              <a:rPr lang="en-US" sz="1400" b="1" dirty="0">
                <a:solidFill>
                  <a:srgbClr val="351C75"/>
                </a:solidFill>
              </a:rPr>
              <a:t>Enrollment no.: 236260316005</a:t>
            </a:r>
          </a:p>
          <a:p>
            <a:pPr marL="0" lvl="0" indent="0" algn="l">
              <a:lnSpc>
                <a:spcPct val="115000"/>
              </a:lnSpc>
              <a:buSzPts val="275"/>
            </a:pPr>
            <a:r>
              <a:rPr lang="en-US" sz="1400" b="1" dirty="0">
                <a:solidFill>
                  <a:srgbClr val="351C75"/>
                </a:solidFill>
              </a:rPr>
              <a:t>College Name : </a:t>
            </a:r>
            <a:r>
              <a:rPr lang="en-US" sz="1400" b="1" dirty="0" err="1">
                <a:solidFill>
                  <a:srgbClr val="351C75"/>
                </a:solidFill>
              </a:rPr>
              <a:t>Govt.Polytechnic</a:t>
            </a:r>
            <a:r>
              <a:rPr lang="en-US" sz="1400" b="1" dirty="0">
                <a:solidFill>
                  <a:srgbClr val="351C75"/>
                </a:solidFill>
              </a:rPr>
              <a:t> </a:t>
            </a:r>
            <a:r>
              <a:rPr lang="en-US" sz="1400" b="1" dirty="0" err="1">
                <a:solidFill>
                  <a:srgbClr val="351C75"/>
                </a:solidFill>
              </a:rPr>
              <a:t>palanpur</a:t>
            </a:r>
            <a:endParaRPr lang="en-US" sz="1400" b="1" dirty="0">
              <a:solidFill>
                <a:srgbClr val="351C75"/>
              </a:solidFill>
            </a:endParaRPr>
          </a:p>
          <a:p>
            <a:pPr marL="0" lvl="0" indent="0" algn="l">
              <a:lnSpc>
                <a:spcPct val="115000"/>
              </a:lnSpc>
              <a:buSzPts val="275"/>
            </a:pPr>
            <a:r>
              <a:rPr lang="en-US" sz="1400" b="1" dirty="0">
                <a:solidFill>
                  <a:srgbClr val="351C75"/>
                </a:solidFill>
              </a:rPr>
              <a:t>Branch and Year : IT &amp; 3rd</a:t>
            </a:r>
          </a:p>
          <a:p>
            <a:pPr marL="0" lvl="0" indent="0" algn="l">
              <a:lnSpc>
                <a:spcPct val="115000"/>
              </a:lnSpc>
              <a:buSzPts val="275"/>
            </a:pPr>
            <a:r>
              <a:rPr lang="en-US" sz="1400" b="1" dirty="0">
                <a:solidFill>
                  <a:srgbClr val="351C75"/>
                </a:solidFill>
              </a:rPr>
              <a:t>Branch code: 16</a:t>
            </a:r>
          </a:p>
          <a:p>
            <a:pPr marL="0" lvl="0" indent="0" algn="l">
              <a:lnSpc>
                <a:spcPct val="115000"/>
              </a:lnSpc>
              <a:buSzPts val="275"/>
            </a:pPr>
            <a:r>
              <a:rPr lang="en-US" sz="1400" b="1" dirty="0">
                <a:solidFill>
                  <a:srgbClr val="351C75"/>
                </a:solidFill>
              </a:rPr>
              <a:t>Gender : Male</a:t>
            </a:r>
          </a:p>
          <a:p>
            <a:pPr marL="0" lvl="0" indent="0" algn="l">
              <a:lnSpc>
                <a:spcPct val="115000"/>
              </a:lnSpc>
              <a:buSzPts val="275"/>
            </a:pPr>
            <a:r>
              <a:rPr lang="en-US" sz="1400" b="1" dirty="0">
                <a:solidFill>
                  <a:srgbClr val="351C75"/>
                </a:solidFill>
              </a:rPr>
              <a:t>Registered Mail ID : hardchadhary94@gmail.com</a:t>
            </a:r>
          </a:p>
          <a:p>
            <a:pPr marL="0" lvl="0" indent="0" algn="l">
              <a:lnSpc>
                <a:spcPct val="115000"/>
              </a:lnSpc>
              <a:buSzPts val="275"/>
            </a:pPr>
            <a:r>
              <a:rPr lang="en-US" sz="1400" b="1" dirty="0">
                <a:solidFill>
                  <a:srgbClr val="351C75"/>
                </a:solidFill>
              </a:rPr>
              <a:t>Contact No. 9316082162</a:t>
            </a:r>
          </a:p>
        </p:txBody>
      </p:sp>
      <p:pic>
        <p:nvPicPr>
          <p:cNvPr id="125" name="Google Shape;125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84418" y="150655"/>
            <a:ext cx="1936072" cy="6458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29" title="BharatCares_Original@2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12" y="150656"/>
            <a:ext cx="1585431" cy="6169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0"/>
          <p:cNvSpPr txBox="1"/>
          <p:nvPr/>
        </p:nvSpPr>
        <p:spPr>
          <a:xfrm>
            <a:off x="630210" y="1246904"/>
            <a:ext cx="8179449" cy="4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125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/>
              <a:t>What did you learned in this Program?</a:t>
            </a:r>
            <a:endParaRPr sz="2500" b="1" dirty="0"/>
          </a:p>
        </p:txBody>
      </p:sp>
      <p:sp>
        <p:nvSpPr>
          <p:cNvPr id="132" name="TextBox 131"/>
          <p:cNvSpPr txBox="1"/>
          <p:nvPr/>
        </p:nvSpPr>
        <p:spPr>
          <a:xfrm>
            <a:off x="630210" y="1839045"/>
            <a:ext cx="621237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dirty="0"/>
              <a:t>• Learned Python programming fundamentals</a:t>
            </a:r>
          </a:p>
          <a:p>
            <a:r>
              <a:rPr sz="1800" dirty="0"/>
              <a:t>• Learned Regular Expressions (Regex)</a:t>
            </a:r>
          </a:p>
          <a:p>
            <a:r>
              <a:rPr sz="1800" dirty="0"/>
              <a:t>• Understood password security concepts</a:t>
            </a:r>
          </a:p>
          <a:p>
            <a:r>
              <a:rPr sz="1800" dirty="0"/>
              <a:t>• Learned GitHub project hosting</a:t>
            </a:r>
          </a:p>
          <a:p>
            <a:r>
              <a:rPr sz="1800" dirty="0"/>
              <a:t>• Improved problem solving and coding skills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1"/>
          <p:cNvSpPr txBox="1"/>
          <p:nvPr/>
        </p:nvSpPr>
        <p:spPr>
          <a:xfrm>
            <a:off x="576900" y="1285411"/>
            <a:ext cx="79902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050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latin typeface="IBM Plex Sans"/>
                <a:ea typeface="IBM Plex Sans"/>
                <a:cs typeface="IBM Plex Sans"/>
                <a:sym typeface="IBM Plex Sans"/>
              </a:rPr>
              <a:t> Project Purpose (Why do you made this project?)</a:t>
            </a:r>
            <a:endParaRPr sz="2500" dirty="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576899" y="1833086"/>
            <a:ext cx="772461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/>
              <a:t>The purpose of this project is to evaluate the strength of a password and help users create secure passwords. Weak passwords can be easily guessed or cracked, so this project improves cybersecurity awareness.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2"/>
          <p:cNvSpPr txBox="1"/>
          <p:nvPr/>
        </p:nvSpPr>
        <p:spPr>
          <a:xfrm>
            <a:off x="646054" y="1109596"/>
            <a:ext cx="8243100" cy="4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125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latin typeface="IBM Plex Sans"/>
                <a:ea typeface="IBM Plex Sans"/>
                <a:cs typeface="IBM Plex Sans"/>
                <a:sym typeface="IBM Plex Sans"/>
              </a:rPr>
              <a:t>Project Objectives (What do you made in this project)</a:t>
            </a:r>
            <a:endParaRPr sz="2500" dirty="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646054" y="1910966"/>
            <a:ext cx="5856090" cy="1631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/>
              <a:t>• Check password length</a:t>
            </a:r>
          </a:p>
          <a:p>
            <a:r>
              <a:rPr sz="2000" dirty="0"/>
              <a:t>• Detect uppercase and lowercase letters</a:t>
            </a:r>
          </a:p>
          <a:p>
            <a:r>
              <a:rPr sz="2000" dirty="0"/>
              <a:t>• Detect numbers and special characters</a:t>
            </a:r>
          </a:p>
          <a:p>
            <a:r>
              <a:rPr sz="2000" dirty="0"/>
              <a:t>• Classify passwords as Weak, Medium, or Strong</a:t>
            </a:r>
          </a:p>
          <a:p>
            <a:r>
              <a:rPr sz="2000" dirty="0"/>
              <a:t>• Improve user security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3"/>
          <p:cNvSpPr txBox="1"/>
          <p:nvPr/>
        </p:nvSpPr>
        <p:spPr>
          <a:xfrm>
            <a:off x="502214" y="1003741"/>
            <a:ext cx="8015400" cy="7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125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latin typeface="IBM Plex Sans"/>
                <a:ea typeface="IBM Plex Sans"/>
                <a:cs typeface="IBM Plex Sans"/>
                <a:sym typeface="IBM Plex Sans"/>
              </a:rPr>
              <a:t>Structure of Your project (What are the steps you follows?)</a:t>
            </a:r>
            <a:endParaRPr sz="2500" dirty="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818499" y="1962337"/>
            <a:ext cx="4414991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/>
              <a:t>1. User enters password</a:t>
            </a:r>
          </a:p>
          <a:p>
            <a:r>
              <a:rPr sz="2000" dirty="0"/>
              <a:t>2. System analyzes password</a:t>
            </a:r>
          </a:p>
          <a:p>
            <a:r>
              <a:rPr sz="2000" dirty="0"/>
              <a:t>3. Checks security rules</a:t>
            </a:r>
          </a:p>
          <a:p>
            <a:r>
              <a:rPr sz="2000" dirty="0"/>
              <a:t>4. Calculates score</a:t>
            </a:r>
          </a:p>
          <a:p>
            <a:r>
              <a:rPr sz="2000" dirty="0"/>
              <a:t>5. Displays password strength result</a:t>
            </a:r>
          </a:p>
          <a:p>
            <a:r>
              <a:rPr sz="2000" dirty="0"/>
              <a:t>6. User improves password if needed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4"/>
          <p:cNvSpPr txBox="1"/>
          <p:nvPr/>
        </p:nvSpPr>
        <p:spPr>
          <a:xfrm>
            <a:off x="564300" y="1518385"/>
            <a:ext cx="8015400" cy="4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125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/>
              <a:t>  Git Hub Link for Project</a:t>
            </a:r>
            <a:endParaRPr sz="2500" dirty="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2" name="Google Shape;152;p34"/>
          <p:cNvSpPr txBox="1"/>
          <p:nvPr/>
        </p:nvSpPr>
        <p:spPr>
          <a:xfrm>
            <a:off x="698182" y="2137679"/>
            <a:ext cx="7747636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dirty="0"/>
              <a:t>https://github.com/hardchaudhary/Password-Strength-Checker.git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5"/>
          <p:cNvSpPr txBox="1"/>
          <p:nvPr/>
        </p:nvSpPr>
        <p:spPr>
          <a:xfrm>
            <a:off x="564289" y="1143228"/>
            <a:ext cx="8015400" cy="4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125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/>
              <a:t>Advantages and Limitations of Your Project</a:t>
            </a:r>
            <a:endParaRPr sz="2500">
              <a:latin typeface="Tahoma"/>
              <a:ea typeface="Tahoma"/>
              <a:cs typeface="Tahoma"/>
              <a:sym typeface="Tahoma"/>
            </a:endParaRPr>
          </a:p>
        </p:txBody>
      </p:sp>
      <p:graphicFrame>
        <p:nvGraphicFramePr>
          <p:cNvPr id="158" name="Google Shape;158;p35"/>
          <p:cNvGraphicFramePr/>
          <p:nvPr>
            <p:extLst>
              <p:ext uri="{D42A27DB-BD31-4B8C-83A1-F6EECF244321}">
                <p14:modId xmlns:p14="http://schemas.microsoft.com/office/powerpoint/2010/main" val="3251983303"/>
              </p:ext>
            </p:extLst>
          </p:nvPr>
        </p:nvGraphicFramePr>
        <p:xfrm>
          <a:off x="564289" y="1809749"/>
          <a:ext cx="8403610" cy="2869718"/>
        </p:xfrm>
        <a:graphic>
          <a:graphicData uri="http://schemas.openxmlformats.org/drawingml/2006/table">
            <a:tbl>
              <a:tblPr>
                <a:noFill/>
                <a:tableStyleId>{1F61826D-432E-424E-990E-A19D4A1A831E}</a:tableStyleId>
              </a:tblPr>
              <a:tblGrid>
                <a:gridCol w="4201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1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7524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ADVANTAGES </a:t>
                      </a:r>
                      <a:endParaRPr/>
                    </a:p>
                  </a:txBody>
                  <a:tcPr marL="91425" marR="91425" marT="91425" marB="9142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LIMITATIONS</a:t>
                      </a:r>
                      <a:endParaRPr/>
                    </a:p>
                  </a:txBody>
                  <a:tcPr marL="91425" marR="91425" marT="91425" marB="9142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2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/>
                        <a:t>• Easy to use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8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• Does not check leaked passwords</a:t>
                      </a: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52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/>
                        <a:t>• Improves password security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/>
                        <a:t>• Basic rule-based checking only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52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/>
                        <a:t>• Fast analysis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/>
                        <a:t>• No online database integration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6"/>
          <p:cNvSpPr txBox="1"/>
          <p:nvPr/>
        </p:nvSpPr>
        <p:spPr>
          <a:xfrm>
            <a:off x="738949" y="1142274"/>
            <a:ext cx="8015400" cy="4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125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/>
              <a:t>Challenges you faced (What difficulties you face?)</a:t>
            </a:r>
            <a:endParaRPr sz="2500" dirty="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738949" y="1787675"/>
            <a:ext cx="49529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dirty="0"/>
              <a:t>• Understanding Regex patterns</a:t>
            </a:r>
          </a:p>
          <a:p>
            <a:r>
              <a:rPr sz="1800" dirty="0"/>
              <a:t>• Designing password evaluation logic</a:t>
            </a:r>
          </a:p>
          <a:p>
            <a:r>
              <a:rPr sz="1800" dirty="0"/>
              <a:t>• Testing different password combinations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7"/>
          <p:cNvSpPr txBox="1"/>
          <p:nvPr/>
        </p:nvSpPr>
        <p:spPr>
          <a:xfrm>
            <a:off x="715758" y="1340297"/>
            <a:ext cx="8015400" cy="4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125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/>
              <a:t>Conclusion</a:t>
            </a:r>
            <a:endParaRPr sz="2500" b="1" dirty="0"/>
          </a:p>
        </p:txBody>
      </p:sp>
      <p:sp>
        <p:nvSpPr>
          <p:cNvPr id="169" name="TextBox 168"/>
          <p:cNvSpPr txBox="1"/>
          <p:nvPr/>
        </p:nvSpPr>
        <p:spPr>
          <a:xfrm>
            <a:off x="696926" y="2110085"/>
            <a:ext cx="8015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dirty="0"/>
              <a:t>The Password Strength Checker project successfully analyzes </a:t>
            </a:r>
            <a:r>
              <a:rPr lang="en-US" sz="1800" dirty="0"/>
              <a:t>               </a:t>
            </a:r>
            <a:r>
              <a:rPr sz="1800" dirty="0"/>
              <a:t>passwords and classifies them according to security </a:t>
            </a:r>
            <a:r>
              <a:rPr sz="1800" dirty="0" err="1"/>
              <a:t>standards.It</a:t>
            </a:r>
            <a:r>
              <a:rPr sz="1800" dirty="0"/>
              <a:t> helps users create stronger passwords and increases cybersecurity awareness.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8"/>
          <p:cNvSpPr txBox="1"/>
          <p:nvPr/>
        </p:nvSpPr>
        <p:spPr>
          <a:xfrm>
            <a:off x="2863892" y="2041394"/>
            <a:ext cx="6721898" cy="76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7150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 dirty="0">
                <a:latin typeface="Arial"/>
                <a:ea typeface="Arial"/>
                <a:cs typeface="Arial"/>
                <a:sym typeface="Arial"/>
              </a:rPr>
              <a:t>Thank You </a:t>
            </a:r>
            <a:endParaRPr sz="48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330</Words>
  <Application>Microsoft Office PowerPoint</Application>
  <PresentationFormat>On-screen Show (16:9)</PresentationFormat>
  <Paragraphs>49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Tahoma</vt:lpstr>
      <vt:lpstr>IBM Plex Sans</vt:lpstr>
      <vt:lpstr>Arial</vt:lpstr>
      <vt:lpstr>Simple Light</vt:lpstr>
      <vt:lpstr>Simple Light</vt:lpstr>
      <vt:lpstr>Project Title GTU SBTP -2026 (Subject Code: DI05000011)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HARD CHAUDHARY</cp:lastModifiedBy>
  <cp:revision>4</cp:revision>
  <dcterms:modified xsi:type="dcterms:W3CDTF">2026-06-24T05:24:52Z</dcterms:modified>
</cp:coreProperties>
</file>